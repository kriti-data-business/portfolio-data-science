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image" Target="../media/image-14-1.png"/><Relationship Id="rId6" Type="http://schemas.openxmlformats.org/officeDocument/2006/relationships/image" Target="../media/image-14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E7C7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solidFill>
            <a:srgbClr val="E8634C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02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spc="150" kern="0" dirty="0">
                <a:solidFill>
                  <a:srgbClr val="5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NINE FAILED EXPERIMENTS TAUGHT ME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spc="150" kern="0" dirty="0">
                <a:solidFill>
                  <a:srgbClr val="5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MACHINE LEARNING IN PRODUCTION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Prediction for Complaints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multi-label classification pipeline for the Telecommunications Industry Ombudsman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140,000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47274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PROCESSED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0" y="41605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1,895:1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0" y="47274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CLASS IMBALANCE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0" y="41605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87–91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47274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ISSUE TAGS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961120" y="41605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961120" y="47274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RUN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4041648"/>
            <a:ext cx="10332720" cy="0"/>
          </a:xfrm>
          <a:prstGeom prst="line">
            <a:avLst/>
          </a:prstGeom>
          <a:noFill/>
          <a:ln w="12700">
            <a:solidFill>
              <a:srgbClr val="2341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 Yadav</a:t>
            </a:r>
            <a:pPr indent="0" marL="0">
              <a:buNone/>
            </a:pPr>
            <a:r>
              <a:rPr lang="en-US" sz="12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Master of Data Science, RMIT University   ·   Data Science Intern, TIO   ·   June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tagging doesn't scale — and it's already inconsistent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 handles ~13,500 telecom complaints per quarter. Each must be tagged with 3–12 issue keywords from a controlled taxonomy of 87–91 canonical tags — the basis for ACMA regulatory reporting.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assets/icons/clo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44144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108960"/>
            <a:ext cx="2039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5–10 min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04672" y="3630168"/>
            <a:ext cx="2039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complaint, manually tagged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04672" y="4480560"/>
            <a:ext cx="2029968" cy="0"/>
          </a:xfrm>
          <a:prstGeom prst="line">
            <a:avLst/>
          </a:prstGeom>
          <a:noFill/>
          <a:ln w="12700">
            <a:solidFill>
              <a:srgbClr val="D7E4E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4599432"/>
            <a:ext cx="2039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1,125–2,250 officer-hours every quarter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214884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assets/icons/tags_co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2441448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3108960"/>
            <a:ext cx="2039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188 → 87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3547872" y="3630168"/>
            <a:ext cx="2039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tag variants for canonical concepts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547872" y="4480560"/>
            <a:ext cx="2029968" cy="0"/>
          </a:xfrm>
          <a:prstGeom prst="line">
            <a:avLst/>
          </a:prstGeom>
          <a:noFill/>
          <a:ln w="12700">
            <a:solidFill>
              <a:srgbClr val="D7E4E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47872" y="4599432"/>
            <a:ext cx="2039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officers tag the same issue differently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035040" y="214884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2" descr="assets/icons/chart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441448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91072" y="3108960"/>
            <a:ext cx="2039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cost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6291072" y="3630168"/>
            <a:ext cx="2039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with complaint volume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91072" y="4480560"/>
            <a:ext cx="2029968" cy="0"/>
          </a:xfrm>
          <a:prstGeom prst="line">
            <a:avLst/>
          </a:prstGeom>
          <a:noFill/>
          <a:ln w="12700">
            <a:solidFill>
              <a:srgbClr val="D7E4E4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291072" y="4599432"/>
            <a:ext cx="2039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leverage — every case takes identical effort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778240" y="214884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24" name="Image 3" descr="assets/icons/shield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4272" y="2441448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34272" y="3108960"/>
            <a:ext cx="2039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risk</a:t>
            </a:r>
            <a:endParaRPr lang="en-US" sz="2100" dirty="0"/>
          </a:p>
        </p:txBody>
      </p:sp>
      <p:sp>
        <p:nvSpPr>
          <p:cNvPr id="26" name="Text 20"/>
          <p:cNvSpPr/>
          <p:nvPr/>
        </p:nvSpPr>
        <p:spPr>
          <a:xfrm>
            <a:off x="9034272" y="3630168"/>
            <a:ext cx="2039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quality is a governance obligation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9034272" y="4480560"/>
            <a:ext cx="2029968" cy="0"/>
          </a:xfrm>
          <a:prstGeom prst="line">
            <a:avLst/>
          </a:prstGeom>
          <a:noFill/>
          <a:ln w="12700">
            <a:solidFill>
              <a:srgbClr val="D7E4E4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9034272" y="4599432"/>
            <a:ext cx="2039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tagging corrupts ACMA reporting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PREDICTION FOR COMPLAINTS  ·  P000255DS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E8634C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FINDING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EAF3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expected </a:t>
            </a:r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architecture</a:t>
            </a:r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EAF3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 be the lever.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EAF3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experiments said it wasn't.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experimental run, the model class stayed the same or got more sophisticated while Macro F1 barely moved — until the underlying data changed. The architecture was never the binding constraint. Data quality was, every single time.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12303F"/>
          </a:solidFill>
          <a:ln w="12700">
            <a:solidFill>
              <a:srgbClr val="3750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3434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EXPECTED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4727448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–"/>
            </a:pPr>
            <a:r>
              <a:rPr lang="en-US" sz="130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model class → better Macro F1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–"/>
            </a:pPr>
            <a:r>
              <a:rPr lang="en-US" sz="130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→ LightGBM → DistilBERT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416052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12303F"/>
          </a:solidFill>
          <a:ln w="12700">
            <a:solidFill>
              <a:srgbClr val="3A33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43434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A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MOVED THE NEEDLE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46520" y="4727448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–"/>
            </a:pPr>
            <a:r>
              <a:rPr lang="en-US" sz="130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tag mapping (188→87)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–"/>
            </a:pPr>
            <a:r>
              <a:rPr lang="en-US" sz="130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Quality-verified gold corpus (G0–G13)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–"/>
            </a:pPr>
            <a:r>
              <a:rPr lang="en-US" sz="130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boundary-conditioned scenarios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3E5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PREDICTION FOR COMPLAINTS  ·  P000255DS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E5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 CHAIN  ·  ACT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baseline failures set the rules for everything after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69848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09928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E8634C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099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847088" y="1655064"/>
            <a:ext cx="9189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Sampling + Logistic Regression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847088" y="2020824"/>
            <a:ext cx="9189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OvR Logistic Regression · 2,000 random cases · TF-IDF (10k dims)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" y="2478024"/>
            <a:ext cx="10296144" cy="0"/>
          </a:xfrm>
          <a:prstGeom prst="line">
            <a:avLst/>
          </a:prstGeom>
          <a:noFill/>
          <a:ln w="12700">
            <a:solidFill>
              <a:srgbClr val="D7E4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542032"/>
            <a:ext cx="10296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</a:t>
            </a:r>
            <a:pPr indent="0" marL="0">
              <a:buNone/>
            </a:pPr>
            <a:r>
              <a:rPr lang="en-US" sz="110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0.030 — failed entirely on rare tags (0–2 training examples each)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191256"/>
            <a:ext cx="1069848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3392424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E8634C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39242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1b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47088" y="3337560"/>
            <a:ext cx="9189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DistilBERT, Unverified Data Preparation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847088" y="3703320"/>
            <a:ext cx="9189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transformer architecture in parallel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" y="4160520"/>
            <a:ext cx="10296144" cy="0"/>
          </a:xfrm>
          <a:prstGeom prst="line">
            <a:avLst/>
          </a:prstGeom>
          <a:noFill/>
          <a:ln w="12700">
            <a:solidFill>
              <a:srgbClr val="D7E4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224528"/>
            <a:ext cx="10296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</a:t>
            </a:r>
            <a:pPr indent="0" marL="0">
              <a:buNone/>
            </a:pPr>
            <a:r>
              <a:rPr lang="en-US" sz="110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0.460 on familiar test set → collapsed to 0.340 on a hidden time-split (–26 pts)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873752"/>
            <a:ext cx="10698480" cy="960120"/>
          </a:xfrm>
          <a:prstGeom prst="roundRect">
            <a:avLst>
              <a:gd name="adj" fmla="val 7619"/>
            </a:avLst>
          </a:prstGeom>
          <a:solidFill>
            <a:srgbClr val="0B1F2A"/>
          </a:solidFill>
          <a:ln/>
        </p:spPr>
      </p:sp>
      <p:pic>
        <p:nvPicPr>
          <p:cNvPr id="19" name="Image 0" descr="assets/icons/compass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102352"/>
            <a:ext cx="502920" cy="5029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508760" y="5010912"/>
            <a:ext cx="9509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9A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rules, locked in early: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sampling is unusable under severe imbalance, and no result is trusted without a confirmed clean, time-separated test split.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PREDICTION FOR COMPLAINTS  ·  P000255DS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 CHAIN  ·  ACT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Richer features didn't help. Cleaning labels did.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69848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09344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E8634C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0934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847088" y="1572768"/>
            <a:ext cx="9189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Distribution-Aware Stratified Sampling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847088" y="1865376"/>
            <a:ext cx="918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3,500 cases · 20,868-dim features (TF-IDF + FastText + sentence transformer)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49808" y="2157984"/>
            <a:ext cx="10296144" cy="0"/>
          </a:xfrm>
          <a:prstGeom prst="line">
            <a:avLst/>
          </a:prstGeom>
          <a:noFill/>
          <a:ln w="12700">
            <a:solidFill>
              <a:srgbClr val="D7E4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212848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6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</a:t>
            </a:r>
            <a:pPr indent="0" marL="0">
              <a:buNone/>
            </a:pPr>
            <a:r>
              <a:rPr lang="en-US" sz="10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stuck at 0.039 — "high" Micro F1 was 20 tags/complaint at ~10% precision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706624"/>
            <a:ext cx="1069848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2834640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0E7C7B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83464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47088" y="2798064"/>
            <a:ext cx="9189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 Noise Discovery → Canonical Map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847088" y="3090672"/>
            <a:ext cx="918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Per-tag F1 analysis surfaced 188 raw tag variants for 87 canonical concepts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9808" y="3383280"/>
            <a:ext cx="10296144" cy="0"/>
          </a:xfrm>
          <a:prstGeom prst="line">
            <a:avLst/>
          </a:prstGeom>
          <a:noFill/>
          <a:ln w="12700">
            <a:solidFill>
              <a:srgbClr val="D7E4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438144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</a:t>
            </a:r>
            <a:pPr indent="0" marL="0">
              <a:buNone/>
            </a:pPr>
            <a:r>
              <a:rPr lang="en-US" sz="10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canonical map (87–91 forms) — became the backbone of every later pipeline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1069848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4059936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E8634C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40599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847088" y="4023360"/>
            <a:ext cx="9189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CleanLab Noise Removal + Model Sweep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847088" y="4315968"/>
            <a:ext cx="918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7,500 cases, multiple model variants across tag-frequency groups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49808" y="4608576"/>
            <a:ext cx="10296144" cy="0"/>
          </a:xfrm>
          <a:prstGeom prst="line">
            <a:avLst/>
          </a:prstGeom>
          <a:noFill/>
          <a:ln w="12700">
            <a:solidFill>
              <a:srgbClr val="D7E4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4663440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6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</a:t>
            </a:r>
            <a:pPr indent="0" marL="0">
              <a:buNone/>
            </a:pPr>
            <a:r>
              <a:rPr lang="en-US" sz="10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still 0.039 — CleanLab cut a rare tag from 16→14 cases (–12.5% of its signal)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5157216"/>
            <a:ext cx="1069848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" y="5285232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D9A741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528523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4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847088" y="5248656"/>
            <a:ext cx="9189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DistilBERT on Quality-Verified Data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847088" y="5541264"/>
            <a:ext cx="918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quality-verified cases · 66M parameters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49808" y="5833872"/>
            <a:ext cx="10296144" cy="0"/>
          </a:xfrm>
          <a:prstGeom prst="line">
            <a:avLst/>
          </a:prstGeom>
          <a:noFill/>
          <a:ln w="12700">
            <a:solidFill>
              <a:srgbClr val="D7E4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5888736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A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</a:t>
            </a:r>
            <a:pPr indent="0" marL="0">
              <a:buNone/>
            </a:pPr>
            <a:r>
              <a:rPr lang="en-US" sz="10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0.048 Macro F1 at Epoch 1 (beat every LightGBM run) — then overfit by Epoch 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PREDICTION FOR COMPLAINTS  ·  P000255DS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G0–G13: every lesson, encoded into one pipeline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140,000 raw cases in, 2,500 quality-verified cases out — two orders of magnitude smaller, selected entirely on demonstrated label quality, not convenience.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5643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167128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16712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G1–G4</a:t>
            </a:r>
            <a:endParaRPr lang="en-US" sz="1050" dirty="0"/>
          </a:p>
        </p:txBody>
      </p:sp>
      <p:pic>
        <p:nvPicPr>
          <p:cNvPr id="8" name="Image 0" descr="assets/icons/filter_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2152" y="214884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560320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 &amp; canonicalise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49808" y="2898648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clean, remap to canonical tags, dedupe. Verified examples excluded to prevent leakage.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69664" y="1965960"/>
            <a:ext cx="345643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70832" y="2167128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0E7C7B"/>
          </a:solidFill>
          <a:ln/>
        </p:spPr>
      </p:sp>
      <p:sp>
        <p:nvSpPr>
          <p:cNvPr id="13" name="Text 10"/>
          <p:cNvSpPr/>
          <p:nvPr/>
        </p:nvSpPr>
        <p:spPr>
          <a:xfrm>
            <a:off x="4370832" y="216712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1050" dirty="0"/>
          </a:p>
        </p:txBody>
      </p:sp>
      <p:pic>
        <p:nvPicPr>
          <p:cNvPr id="14" name="Image 1" descr="assets/icons/wrench_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3176" y="2148840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70832" y="2560320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summaries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370832" y="2898648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complaint text into plain prose for better embedding quality.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790688" y="1965960"/>
            <a:ext cx="345643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991856" y="2167128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0E7C7B"/>
          </a:solidFill>
          <a:ln/>
        </p:spPr>
      </p:sp>
      <p:sp>
        <p:nvSpPr>
          <p:cNvPr id="19" name="Text 15"/>
          <p:cNvSpPr/>
          <p:nvPr/>
        </p:nvSpPr>
        <p:spPr>
          <a:xfrm>
            <a:off x="7991856" y="216712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G6–G7</a:t>
            </a:r>
            <a:endParaRPr lang="en-US" sz="1050" dirty="0"/>
          </a:p>
        </p:txBody>
      </p:sp>
      <p:pic>
        <p:nvPicPr>
          <p:cNvPr id="20" name="Image 2" descr="assets/icons/search_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2148840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991856" y="2560320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scoring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7991856" y="2898648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complaint–tag pair: sentence-transformer embeddings + keyword prior.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48640" y="3931920"/>
            <a:ext cx="345643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49808" y="4133088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0E7C7B"/>
          </a:solidFill>
          <a:ln/>
        </p:spPr>
      </p:sp>
      <p:sp>
        <p:nvSpPr>
          <p:cNvPr id="25" name="Text 20"/>
          <p:cNvSpPr/>
          <p:nvPr/>
        </p:nvSpPr>
        <p:spPr>
          <a:xfrm>
            <a:off x="749808" y="413308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G8</a:t>
            </a:r>
            <a:endParaRPr lang="en-US" sz="1050" dirty="0"/>
          </a:p>
        </p:txBody>
      </p:sp>
      <p:pic>
        <p:nvPicPr>
          <p:cNvPr id="26" name="Image 3" descr="assets/icons/scale_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4114800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9808" y="4526280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thresholds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749808" y="4864608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/ review / remove bands set per tag-frequency bucket — protects rare labels.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169664" y="3931920"/>
            <a:ext cx="345643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370832" y="4133088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0E7C7B"/>
          </a:solidFill>
          <a:ln/>
        </p:spPr>
      </p:sp>
      <p:sp>
        <p:nvSpPr>
          <p:cNvPr id="31" name="Text 25"/>
          <p:cNvSpPr/>
          <p:nvPr/>
        </p:nvSpPr>
        <p:spPr>
          <a:xfrm>
            <a:off x="4370832" y="413308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G9–G10</a:t>
            </a:r>
            <a:endParaRPr lang="en-US" sz="1050" dirty="0"/>
          </a:p>
        </p:txBody>
      </p:sp>
      <p:pic>
        <p:nvPicPr>
          <p:cNvPr id="32" name="Image 4" descr="assets/icons/target_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3176" y="4114800"/>
            <a:ext cx="329184" cy="32918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370832" y="4526280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Greedy max-coverage</a:t>
            </a:r>
            <a:endParaRPr lang="en-US" sz="1450" dirty="0"/>
          </a:p>
        </p:txBody>
      </p:sp>
      <p:sp>
        <p:nvSpPr>
          <p:cNvPr id="34" name="Text 27"/>
          <p:cNvSpPr/>
          <p:nvPr/>
        </p:nvSpPr>
        <p:spPr>
          <a:xfrm>
            <a:off x="4370832" y="4864608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cases that maximise tag coverage, prioritising multi-label cases and rare-tag examples.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7790688" y="3931920"/>
            <a:ext cx="345643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7991856" y="4133088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0E7C7B"/>
          </a:solidFill>
          <a:ln/>
        </p:spPr>
      </p:sp>
      <p:sp>
        <p:nvSpPr>
          <p:cNvPr id="37" name="Text 30"/>
          <p:cNvSpPr/>
          <p:nvPr/>
        </p:nvSpPr>
        <p:spPr>
          <a:xfrm>
            <a:off x="7991856" y="413308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G11–G13</a:t>
            </a:r>
            <a:endParaRPr lang="en-US" sz="1050" dirty="0"/>
          </a:p>
        </p:txBody>
      </p:sp>
      <p:pic>
        <p:nvPicPr>
          <p:cNvPr id="38" name="Image 5" descr="assets/icons/check_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4200" y="4114800"/>
            <a:ext cx="329184" cy="32918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991856" y="4526280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build &amp; QC</a:t>
            </a:r>
            <a:endParaRPr lang="en-US" sz="1450" dirty="0"/>
          </a:p>
        </p:txBody>
      </p:sp>
      <p:sp>
        <p:nvSpPr>
          <p:cNvPr id="40" name="Text 32"/>
          <p:cNvSpPr/>
          <p:nvPr/>
        </p:nvSpPr>
        <p:spPr>
          <a:xfrm>
            <a:off x="7991856" y="4864608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QC gates: leakage, empty text, zero-tag, non-canonical tag, minimum count.</a:t>
            </a:r>
            <a:endParaRPr lang="en-US" sz="1050" dirty="0"/>
          </a:p>
        </p:txBody>
      </p:sp>
      <p:sp>
        <p:nvSpPr>
          <p:cNvPr id="41" name="Text 3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PREDICTION FOR COMPLAINTS  ·  P000255DS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0.030 to 0.4279 Macro F1 — a usable shortlist, not a black box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2303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10512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0.4279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MACRO F1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6459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2303F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810512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0.4780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91840" y="2542032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MICRO F1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6459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2303F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810512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035040" y="2542032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AT F1 ≥ 0.60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778240" y="16459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2303F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1810512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65.5%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778240" y="2542032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RECALL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1,327%</a:t>
            </a:r>
            <a:pPr indent="0" marL="0">
              <a:buNone/>
            </a:pPr>
            <a:r>
              <a:rPr lang="en-US" sz="130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improvement over the naive baseline (Exp 1: 0.030)  ·  </a:t>
            </a:r>
            <a:pPr indent="0" marL="0">
              <a:buNone/>
            </a:pPr>
            <a:r>
              <a:rPr lang="en-US" sz="2000" b="1" dirty="0">
                <a:solidFill>
                  <a:srgbClr val="E86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998%</a:t>
            </a:r>
            <a:pPr indent="0" marL="0">
              <a:buNone/>
            </a:pPr>
            <a:r>
              <a:rPr lang="en-US" sz="130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the best early structured attempt (Exp 2: 0.039)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10789920" cy="0"/>
          </a:xfrm>
          <a:prstGeom prst="line">
            <a:avLst/>
          </a:prstGeom>
          <a:noFill/>
          <a:ln w="12700">
            <a:solidFill>
              <a:srgbClr val="23414D"/>
            </a:solidFill>
            <a:prstDash val="solid"/>
          </a:ln>
        </p:spPr>
      </p:sp>
      <p:pic>
        <p:nvPicPr>
          <p:cNvPr id="18" name="Image 0" descr="assets/icons/chec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069080"/>
            <a:ext cx="347472" cy="34747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87552" y="408736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94360" y="4480560"/>
            <a:ext cx="5166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–"/>
            </a:pPr>
            <a:r>
              <a:rPr lang="en-US" sz="115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today as a ranked shortlist for officer confirmation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–"/>
            </a:pPr>
            <a:r>
              <a:rPr lang="en-US" sz="115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the manual search space from 87–91 options to ~5 candidates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–"/>
            </a:pPr>
            <a:r>
              <a:rPr lang="en-US" sz="115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held constant across Exp 2, 3 &amp; production — the gain is 100% attributable to the data pipeline</a:t>
            </a:r>
            <a:endParaRPr lang="en-US" sz="1150" dirty="0"/>
          </a:p>
        </p:txBody>
      </p:sp>
      <p:pic>
        <p:nvPicPr>
          <p:cNvPr id="21" name="Image 1" descr="assets/icons/warning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4069080"/>
            <a:ext cx="347472" cy="34747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611112" y="408736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6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ISN'T (YET)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217920" y="4480560"/>
            <a:ext cx="5166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–"/>
            </a:pPr>
            <a:r>
              <a:rPr lang="en-US" sz="115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full automation — officer confirmation still required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–"/>
            </a:pPr>
            <a:r>
              <a:rPr lang="en-US" sz="115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of 87–91 tags are production-ready, not all of them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–"/>
            </a:pPr>
            <a:r>
              <a:rPr lang="en-US" sz="115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split, but ground truth itself is noisy (next slides)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3E5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PREDICTION FOR COMPLAINTS  ·  P000255DS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E5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LLM ENRICHMENT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the model the boundary, not just the centre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residual problems remained after Phase 1: rare tags under 30 verified cases, and confusion between semantically adjacent tags. Both needed boundary-conditioned examples — not more central-case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1206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25856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53312" y="227685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Bank Generation</a:t>
            </a:r>
            <a:endParaRPr lang="en-US" sz="1550" dirty="0"/>
          </a:p>
        </p:txBody>
      </p:sp>
      <p:pic>
        <p:nvPicPr>
          <p:cNvPr id="9" name="Image 0" descr="assets/icons/lightbulb_s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2276856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2807208"/>
            <a:ext cx="4718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 87–91 tags, the LLM receives an enriched description + verified examples and generates synthetic complaints deliberately placed near the decision boundary — distinct from both the tag's own examples and its neighbours.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0" y="2057400"/>
            <a:ext cx="51206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44768" y="225856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3" name="Text 10"/>
          <p:cNvSpPr/>
          <p:nvPr/>
        </p:nvSpPr>
        <p:spPr>
          <a:xfrm>
            <a:off x="6144768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748272" y="227685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Cross-Tag Overlap Detection</a:t>
            </a:r>
            <a:endParaRPr lang="en-US" sz="1550" dirty="0"/>
          </a:p>
        </p:txBody>
      </p:sp>
      <p:pic>
        <p:nvPicPr>
          <p:cNvPr id="15" name="Image 1" descr="assets/icons/network_s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276856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144768" y="2807208"/>
            <a:ext cx="4718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generated scenarios are embedded and pairwise cosine similarity is computed across every tag pair. Similarity &gt; 0.85 to a different tag flags a confusable pair for review.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4041648"/>
            <a:ext cx="51206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49808" y="4242816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9" name="Text 15"/>
          <p:cNvSpPr/>
          <p:nvPr/>
        </p:nvSpPr>
        <p:spPr>
          <a:xfrm>
            <a:off x="749808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353312" y="426110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Boundary Case Synthesis</a:t>
            </a:r>
            <a:endParaRPr lang="en-US" sz="1550" dirty="0"/>
          </a:p>
        </p:txBody>
      </p:sp>
      <p:pic>
        <p:nvPicPr>
          <p:cNvPr id="21" name="Image 2" descr="assets/icons/puzzle_sl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4261104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49808" y="4791456"/>
            <a:ext cx="4718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pairs get explicit, LLM-generated boundary cases that name the discriminating feature — e.g. "acknowledged but not actioned" vs. "never acknowledged."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943600" y="4041648"/>
            <a:ext cx="51206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144768" y="4242816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5" name="Text 20"/>
          <p:cNvSpPr/>
          <p:nvPr/>
        </p:nvSpPr>
        <p:spPr>
          <a:xfrm>
            <a:off x="6144768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6748272" y="426110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Scoring &amp; Sample Weights</a:t>
            </a:r>
            <a:endParaRPr lang="en-US" sz="1550" dirty="0"/>
          </a:p>
        </p:txBody>
      </p:sp>
      <p:pic>
        <p:nvPicPr>
          <p:cNvPr id="27" name="Image 3" descr="assets/icons/scale_sl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4261104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144768" y="4791456"/>
            <a:ext cx="4718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merged real + synthetic pool is re-scored through the G8 pipeline. Each (case, tag) pair gets a confidence weight fed into LightGBM — borderline cases contribute less to the loss.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PREDICTION FOR COMPLAINTS  ·  P000255DS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DIAGNOSTIC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 opinion that explains its own disagreements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test case, an LLM "tag oracle" — armed with full canonical tag knowledge — predicts independently. The result is compared against the trained model, sorted into five agreement classes that double as a roadmap for what to fix next.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12303F"/>
          </a:solidFill>
          <a:ln w="15240">
            <a:solidFill>
              <a:srgbClr val="0E7C7B"/>
            </a:solidFill>
            <a:prstDash val="solid"/>
          </a:ln>
        </p:spPr>
      </p:sp>
      <p:pic>
        <p:nvPicPr>
          <p:cNvPr id="6" name="Image 0" descr="assets/icons/cogs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5856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2219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OvR MODEL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71600" y="25603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LightGBM, per-tag probability scores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205740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12303F"/>
          </a:solidFill>
          <a:ln w="15240">
            <a:solidFill>
              <a:srgbClr val="D9A741"/>
            </a:solidFill>
            <a:prstDash val="solid"/>
          </a:ln>
        </p:spPr>
      </p:sp>
      <p:pic>
        <p:nvPicPr>
          <p:cNvPr id="10" name="Image 1" descr="assets/icons/robot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25856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22219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A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TAG ORACLE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086600" y="25603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all tag definitions, scenarios, key phrases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697480" y="3291840"/>
            <a:ext cx="2857500" cy="502920"/>
          </a:xfrm>
          <a:prstGeom prst="line">
            <a:avLst/>
          </a:prstGeom>
          <a:noFill/>
          <a:ln w="19050">
            <a:solidFill>
              <a:srgbClr val="5B7C8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12480" y="3291840"/>
            <a:ext cx="-2857500" cy="502920"/>
          </a:xfrm>
          <a:prstGeom prst="line">
            <a:avLst/>
          </a:prstGeom>
          <a:noFill/>
          <a:ln w="19050">
            <a:solidFill>
              <a:srgbClr val="5B7C8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3794760"/>
            <a:ext cx="10012680" cy="502920"/>
          </a:xfrm>
          <a:prstGeom prst="roundRect">
            <a:avLst>
              <a:gd name="adj" fmla="val 14545"/>
            </a:avLst>
          </a:prstGeom>
          <a:solidFill>
            <a:srgbClr val="E8634C"/>
          </a:solidFill>
          <a:ln/>
        </p:spPr>
      </p:sp>
      <p:sp>
        <p:nvSpPr>
          <p:cNvPr id="16" name="Text 12"/>
          <p:cNvSpPr/>
          <p:nvPr/>
        </p:nvSpPr>
        <p:spPr>
          <a:xfrm>
            <a:off x="548640" y="3794760"/>
            <a:ext cx="10012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LAYER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4553712"/>
            <a:ext cx="2048256" cy="1417320"/>
          </a:xfrm>
          <a:prstGeom prst="roundRect">
            <a:avLst>
              <a:gd name="adj" fmla="val 3871"/>
            </a:avLst>
          </a:prstGeom>
          <a:solidFill>
            <a:srgbClr val="12303F"/>
          </a:solidFill>
          <a:ln/>
        </p:spPr>
      </p:sp>
      <p:sp>
        <p:nvSpPr>
          <p:cNvPr id="18" name="Shape 14"/>
          <p:cNvSpPr/>
          <p:nvPr/>
        </p:nvSpPr>
        <p:spPr>
          <a:xfrm>
            <a:off x="548640" y="4553712"/>
            <a:ext cx="2048256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9" name="Text 15"/>
          <p:cNvSpPr/>
          <p:nvPr/>
        </p:nvSpPr>
        <p:spPr>
          <a:xfrm>
            <a:off x="685800" y="4700016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BOTH_CORRECT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85800" y="5212080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 — safe to auto-route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2734056" y="4553712"/>
            <a:ext cx="2048256" cy="1417320"/>
          </a:xfrm>
          <a:prstGeom prst="roundRect">
            <a:avLst>
              <a:gd name="adj" fmla="val 3871"/>
            </a:avLst>
          </a:prstGeom>
          <a:solidFill>
            <a:srgbClr val="12303F"/>
          </a:solidFill>
          <a:ln/>
        </p:spPr>
      </p:sp>
      <p:sp>
        <p:nvSpPr>
          <p:cNvPr id="22" name="Shape 18"/>
          <p:cNvSpPr/>
          <p:nvPr/>
        </p:nvSpPr>
        <p:spPr>
          <a:xfrm>
            <a:off x="2734056" y="4553712"/>
            <a:ext cx="2048256" cy="73152"/>
          </a:xfrm>
          <a:prstGeom prst="rect">
            <a:avLst/>
          </a:prstGeom>
          <a:solidFill>
            <a:srgbClr val="E8634C"/>
          </a:solidFill>
          <a:ln/>
        </p:spPr>
      </p:sp>
      <p:sp>
        <p:nvSpPr>
          <p:cNvPr id="23" name="Text 19"/>
          <p:cNvSpPr/>
          <p:nvPr/>
        </p:nvSpPr>
        <p:spPr>
          <a:xfrm>
            <a:off x="2871216" y="4700016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ORACLE_WINS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2871216" y="5212080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gap — needs more data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919472" y="4553712"/>
            <a:ext cx="2048256" cy="1417320"/>
          </a:xfrm>
          <a:prstGeom prst="roundRect">
            <a:avLst>
              <a:gd name="adj" fmla="val 3871"/>
            </a:avLst>
          </a:prstGeom>
          <a:solidFill>
            <a:srgbClr val="12303F"/>
          </a:solidFill>
          <a:ln/>
        </p:spPr>
      </p:sp>
      <p:sp>
        <p:nvSpPr>
          <p:cNvPr id="26" name="Shape 22"/>
          <p:cNvSpPr/>
          <p:nvPr/>
        </p:nvSpPr>
        <p:spPr>
          <a:xfrm>
            <a:off x="4919472" y="4553712"/>
            <a:ext cx="2048256" cy="73152"/>
          </a:xfrm>
          <a:prstGeom prst="rect">
            <a:avLst/>
          </a:prstGeom>
          <a:solidFill>
            <a:srgbClr val="D9A741"/>
          </a:solidFill>
          <a:ln/>
        </p:spPr>
      </p:sp>
      <p:sp>
        <p:nvSpPr>
          <p:cNvPr id="27" name="Text 23"/>
          <p:cNvSpPr/>
          <p:nvPr/>
        </p:nvSpPr>
        <p:spPr>
          <a:xfrm>
            <a:off x="5056632" y="4700016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MODEL_WINS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5056632" y="5212080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found a pattern static LLM knowledge missed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7104888" y="4553712"/>
            <a:ext cx="2048256" cy="1417320"/>
          </a:xfrm>
          <a:prstGeom prst="roundRect">
            <a:avLst>
              <a:gd name="adj" fmla="val 3871"/>
            </a:avLst>
          </a:prstGeom>
          <a:solidFill>
            <a:srgbClr val="12303F"/>
          </a:solidFill>
          <a:ln/>
        </p:spPr>
      </p:sp>
      <p:sp>
        <p:nvSpPr>
          <p:cNvPr id="30" name="Shape 26"/>
          <p:cNvSpPr/>
          <p:nvPr/>
        </p:nvSpPr>
        <p:spPr>
          <a:xfrm>
            <a:off x="7104888" y="4553712"/>
            <a:ext cx="2048256" cy="73152"/>
          </a:xfrm>
          <a:prstGeom prst="rect">
            <a:avLst/>
          </a:prstGeom>
          <a:solidFill>
            <a:srgbClr val="5B7C8D"/>
          </a:solidFill>
          <a:ln/>
        </p:spPr>
      </p:sp>
      <p:sp>
        <p:nvSpPr>
          <p:cNvPr id="31" name="Text 27"/>
          <p:cNvSpPr/>
          <p:nvPr/>
        </p:nvSpPr>
        <p:spPr>
          <a:xfrm>
            <a:off x="7242048" y="4700016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BOTH_WRONG_SAME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7242048" y="5212080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boundary issue — review tag definitions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9290304" y="4553712"/>
            <a:ext cx="2048256" cy="1417320"/>
          </a:xfrm>
          <a:prstGeom prst="roundRect">
            <a:avLst>
              <a:gd name="adj" fmla="val 3871"/>
            </a:avLst>
          </a:prstGeom>
          <a:solidFill>
            <a:srgbClr val="12303F"/>
          </a:solidFill>
          <a:ln/>
        </p:spPr>
      </p:sp>
      <p:sp>
        <p:nvSpPr>
          <p:cNvPr id="34" name="Shape 30"/>
          <p:cNvSpPr/>
          <p:nvPr/>
        </p:nvSpPr>
        <p:spPr>
          <a:xfrm>
            <a:off x="9290304" y="4553712"/>
            <a:ext cx="2048256" cy="73152"/>
          </a:xfrm>
          <a:prstGeom prst="rect">
            <a:avLst/>
          </a:prstGeom>
          <a:solidFill>
            <a:srgbClr val="8A6FB0"/>
          </a:solidFill>
          <a:ln/>
        </p:spPr>
      </p:sp>
      <p:sp>
        <p:nvSpPr>
          <p:cNvPr id="35" name="Text 31"/>
          <p:cNvSpPr/>
          <p:nvPr/>
        </p:nvSpPr>
        <p:spPr>
          <a:xfrm>
            <a:off x="9427464" y="4700016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BOTH_WRONG_DIFF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9427464" y="5212080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edge case — flag for human review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3E5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PREDICTION FOR COMPLAINTS  ·  P000255DS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E5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enrichment added +13.7 points of Macro F1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~1,500 LLM-generated boundary scenarios to the Phase 1 pool (→ ~4,000 training cases) moved Macro F1 from 0.4279 to 0.5916 with sentence-transformer features alone. FastText sub-word features added a further small, consistent gain.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0698480" cy="512064"/>
          </a:xfrm>
          <a:prstGeom prst="rect">
            <a:avLst/>
          </a:prstGeom>
          <a:solidFill>
            <a:srgbClr val="0B1F2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4884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886200" y="2148840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577840" y="214884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(ST)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60920" y="214884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(ST+FastText)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46920" y="214884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660904"/>
            <a:ext cx="10698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66090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Macro F1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886200" y="2660904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0.4279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577840" y="266090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0.5916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60920" y="266090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0.5975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46920" y="266090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0.80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172968"/>
            <a:ext cx="10698480" cy="512064"/>
          </a:xfrm>
          <a:prstGeom prst="rect">
            <a:avLst/>
          </a:prstGeom>
          <a:solidFill>
            <a:srgbClr val="F4F8F8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7296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Micro F1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886200" y="317296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0.4780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577840" y="317296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0.6120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60920" y="317296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0.6283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646920" y="317296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0.90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3685032"/>
            <a:ext cx="10698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68503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tags (F1 ≥ 0.60)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886200" y="3685032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577840" y="3685032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60920" y="368503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46920" y="368503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80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4197096"/>
            <a:ext cx="10698480" cy="512064"/>
          </a:xfrm>
          <a:prstGeom prst="rect">
            <a:avLst/>
          </a:prstGeom>
          <a:solidFill>
            <a:srgbClr val="F4F8F8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4197096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Recall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886200" y="4197096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65.5%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577840" y="419709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70.25%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360920" y="419709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70.25%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646920" y="4197096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90%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48640" y="4709160"/>
            <a:ext cx="10698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470916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cases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886200" y="4709160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577840" y="470916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~4,000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360920" y="470916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~4,000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646920" y="470916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~10k–15k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48640" y="2148840"/>
            <a:ext cx="10698480" cy="3072384"/>
          </a:xfrm>
          <a:prstGeom prst="rect">
            <a:avLst/>
          </a:prstGeom>
          <a:ln w="12700">
            <a:solidFill>
              <a:srgbClr val="D7E4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5495544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in production today. Phase 2 testing ongoing — </a:t>
            </a:r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E86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test-split verification against the Phase 1 protocol is not yet complete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these figures are best current estimates, reported with that caveat intact.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PREDICTION FOR COMPLAINTS  ·  P000255DS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re-ranks the correct tag to #1 — here's how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the public CFPB complaints dataset (structurally analogous to TIO data) since original TIO data can't leave the environment. Across 3 representative cases, Phase 2 ranked the correct tag first in all three; Phase 1 only managed top-2.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456432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194560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1 — Callback failure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670048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TOP PICK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9808" y="2907792"/>
            <a:ext cx="3054096" cy="502920"/>
          </a:xfrm>
          <a:prstGeom prst="roundRect">
            <a:avLst>
              <a:gd name="adj" fmla="val 9091"/>
            </a:avLst>
          </a:prstGeom>
          <a:solidFill>
            <a:srgbClr val="FBEDEA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290779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6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information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27832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6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1200" dirty="0"/>
          </a:p>
        </p:txBody>
      </p:sp>
      <p:pic>
        <p:nvPicPr>
          <p:cNvPr id="11" name="Image 0" descr="assets/icons/arrow_down_s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7984" y="3456432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9808" y="3767328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CORRECTED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49808" y="4005072"/>
            <a:ext cx="3054096" cy="502920"/>
          </a:xfrm>
          <a:prstGeom prst="roundRect">
            <a:avLst>
              <a:gd name="adj" fmla="val 9091"/>
            </a:avLst>
          </a:prstGeom>
          <a:solidFill>
            <a:srgbClr val="E6F3F1"/>
          </a:solidFill>
          <a:ln/>
        </p:spPr>
      </p:sp>
      <p:sp>
        <p:nvSpPr>
          <p:cNvPr id="14" name="Text 11"/>
          <p:cNvSpPr/>
          <p:nvPr/>
        </p:nvSpPr>
        <p:spPr>
          <a:xfrm>
            <a:off x="859536" y="400507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 delayed action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227832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49808" y="4626864"/>
            <a:ext cx="3054096" cy="0"/>
          </a:xfrm>
          <a:prstGeom prst="line">
            <a:avLst/>
          </a:prstGeom>
          <a:noFill/>
          <a:ln w="12700">
            <a:solidFill>
              <a:srgbClr val="D7E4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9808" y="4700016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promised escalation 3×, no follow-through — matched scenario S1.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169664" y="2011680"/>
            <a:ext cx="3456432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370832" y="2194560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2 — Cancellation failure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370832" y="2670048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TOP PICK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370832" y="2907792"/>
            <a:ext cx="3054096" cy="502920"/>
          </a:xfrm>
          <a:prstGeom prst="roundRect">
            <a:avLst>
              <a:gd name="adj" fmla="val 9091"/>
            </a:avLst>
          </a:prstGeom>
          <a:solidFill>
            <a:srgbClr val="FBEDEA"/>
          </a:solidFill>
          <a:ln/>
        </p:spPr>
      </p:sp>
      <p:sp>
        <p:nvSpPr>
          <p:cNvPr id="22" name="Text 19"/>
          <p:cNvSpPr/>
          <p:nvPr/>
        </p:nvSpPr>
        <p:spPr>
          <a:xfrm>
            <a:off x="4480560" y="290779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6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 delayed action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848856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6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200" dirty="0"/>
          </a:p>
        </p:txBody>
      </p:sp>
      <p:pic>
        <p:nvPicPr>
          <p:cNvPr id="24" name="Image 1" descr="assets/icons/arrow_down_s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3456432"/>
            <a:ext cx="237744" cy="23774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370832" y="3767328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CORRECTED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4370832" y="4005072"/>
            <a:ext cx="3054096" cy="502920"/>
          </a:xfrm>
          <a:prstGeom prst="roundRect">
            <a:avLst>
              <a:gd name="adj" fmla="val 9091"/>
            </a:avLst>
          </a:prstGeom>
          <a:solidFill>
            <a:srgbClr val="E6F3F1"/>
          </a:solidFill>
          <a:ln/>
        </p:spPr>
      </p:sp>
      <p:sp>
        <p:nvSpPr>
          <p:cNvPr id="27" name="Text 23"/>
          <p:cNvSpPr/>
          <p:nvPr/>
        </p:nvSpPr>
        <p:spPr>
          <a:xfrm>
            <a:off x="4480560" y="400507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to cancel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6848856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4370832" y="4626864"/>
            <a:ext cx="3054096" cy="0"/>
          </a:xfrm>
          <a:prstGeom prst="line">
            <a:avLst/>
          </a:prstGeom>
          <a:noFill/>
          <a:ln w="12700">
            <a:solidFill>
              <a:srgbClr val="D7E4E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370832" y="4700016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acknowledged cancellation, continued billing — recovers the specific root cause.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7790688" y="2011680"/>
            <a:ext cx="3456432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7991856" y="2194560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3 — Vishing call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7991856" y="2670048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TOP PICK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7991856" y="2907792"/>
            <a:ext cx="3054096" cy="502920"/>
          </a:xfrm>
          <a:prstGeom prst="roundRect">
            <a:avLst>
              <a:gd name="adj" fmla="val 9091"/>
            </a:avLst>
          </a:prstGeom>
          <a:solidFill>
            <a:srgbClr val="FBEDEA"/>
          </a:solidFill>
          <a:ln/>
        </p:spPr>
      </p:sp>
      <p:sp>
        <p:nvSpPr>
          <p:cNvPr id="35" name="Text 31"/>
          <p:cNvSpPr/>
          <p:nvPr/>
        </p:nvSpPr>
        <p:spPr>
          <a:xfrm>
            <a:off x="8101584" y="290779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6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caller financial</a:t>
            </a:r>
            <a:endParaRPr lang="en-US" sz="1150" dirty="0"/>
          </a:p>
        </p:txBody>
      </p:sp>
      <p:sp>
        <p:nvSpPr>
          <p:cNvPr id="36" name="Text 32"/>
          <p:cNvSpPr/>
          <p:nvPr/>
        </p:nvSpPr>
        <p:spPr>
          <a:xfrm>
            <a:off x="10469880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6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1200" dirty="0"/>
          </a:p>
        </p:txBody>
      </p:sp>
      <p:pic>
        <p:nvPicPr>
          <p:cNvPr id="37" name="Image 2" descr="assets/icons/arrow_down_sl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2" y="3456432"/>
            <a:ext cx="237744" cy="237744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7991856" y="3767328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CORRECTED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7991856" y="4005072"/>
            <a:ext cx="3054096" cy="502920"/>
          </a:xfrm>
          <a:prstGeom prst="roundRect">
            <a:avLst>
              <a:gd name="adj" fmla="val 9091"/>
            </a:avLst>
          </a:prstGeom>
          <a:solidFill>
            <a:srgbClr val="E6F3F1"/>
          </a:solidFill>
          <a:ln/>
        </p:spPr>
      </p:sp>
      <p:sp>
        <p:nvSpPr>
          <p:cNvPr id="40" name="Text 35"/>
          <p:cNvSpPr/>
          <p:nvPr/>
        </p:nvSpPr>
        <p:spPr>
          <a:xfrm>
            <a:off x="8101584" y="400507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Impersonation / Vishing</a:t>
            </a:r>
            <a:endParaRPr lang="en-US" sz="1150" dirty="0"/>
          </a:p>
        </p:txBody>
      </p:sp>
      <p:sp>
        <p:nvSpPr>
          <p:cNvPr id="41" name="Text 36"/>
          <p:cNvSpPr/>
          <p:nvPr/>
        </p:nvSpPr>
        <p:spPr>
          <a:xfrm>
            <a:off x="10469880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7991856" y="4626864"/>
            <a:ext cx="3054096" cy="0"/>
          </a:xfrm>
          <a:prstGeom prst="line">
            <a:avLst/>
          </a:prstGeom>
          <a:noFill/>
          <a:ln w="12700">
            <a:solidFill>
              <a:srgbClr val="D7E4E4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991856" y="4700016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caller impersonated fraud dept — fine-grained discrimination within a similar cluster.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PREDICTION FOR COMPLAINTS  ·  P000255DS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RIGOR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F1 number is partly a property of the test set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diagnostic in this project wasn't a model fix — it was learning to distrust metrics that looked too good.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12303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48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6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EXHIBIT: THE LEAKY SPLIT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4505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20,000+-feature LightGBM run looked like the best model yet: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9077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2953512"/>
            <a:ext cx="2113544" cy="256032"/>
          </a:xfrm>
          <a:prstGeom prst="roundRect">
            <a:avLst>
              <a:gd name="adj" fmla="val 14286"/>
            </a:avLst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29077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3284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34640" y="3374136"/>
            <a:ext cx="1595262" cy="256032"/>
          </a:xfrm>
          <a:prstGeom prst="roundRect">
            <a:avLst>
              <a:gd name="adj" fmla="val 14286"/>
            </a:avLst>
          </a:prstGeom>
          <a:solidFill>
            <a:srgbClr val="0E7C7B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33284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test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34640" y="3794760"/>
            <a:ext cx="1699870" cy="256032"/>
          </a:xfrm>
          <a:prstGeom prst="roundRect">
            <a:avLst>
              <a:gd name="adj" fmla="val 14286"/>
            </a:avLst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0" y="3749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41696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Truly unseen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834640" y="4215384"/>
            <a:ext cx="420807" cy="256032"/>
          </a:xfrm>
          <a:prstGeom prst="roundRect">
            <a:avLst>
              <a:gd name="adj" fmla="val 14286"/>
            </a:avLst>
          </a:prstGeom>
          <a:solidFill>
            <a:srgbClr val="E8634C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0" y="41696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4663440"/>
            <a:ext cx="4754880" cy="0"/>
          </a:xfrm>
          <a:prstGeom prst="line">
            <a:avLst/>
          </a:prstGeom>
          <a:noFill/>
          <a:ln w="12700">
            <a:solidFill>
              <a:srgbClr val="2341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791456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D9A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79.1%</a:t>
            </a:r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validation cases repeated dominant tag co-occurrence patterns from training — the model had memorised label combinations, not learned from complaint text. This run is excluded from comparisons; its value was exposing the leak and motivating co-occurrence-based stratified splitting.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89320" y="196596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12303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17920" y="21488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A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BROADER PRINCIPLE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2487168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a clean, non-leaky split, Macro F1 will vary across different draws of a test set — because label distribution and tag co-occurrence shift between samples.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3364992"/>
            <a:ext cx="4983480" cy="0"/>
          </a:xfrm>
          <a:prstGeom prst="line">
            <a:avLst/>
          </a:prstGeom>
          <a:noFill/>
          <a:ln w="12700">
            <a:solidFill>
              <a:srgbClr val="2341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511296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set that oversamples rare-tag complaints will score the same model lower than one that undersamples them. The number measures the evaluation set as much as the model.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4434840"/>
            <a:ext cx="4983480" cy="0"/>
          </a:xfrm>
          <a:prstGeom prst="line">
            <a:avLst/>
          </a:prstGeom>
          <a:noFill/>
          <a:ln w="12700">
            <a:solidFill>
              <a:srgbClr val="2341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4572000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5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motivated: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semantic-similarity audits, SME spot-review, and — long-term — a scenario-anchored evaluation framework using SME-validated cases held fixed across model versions, instead of relying on noisy historical labels alone.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3E5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PREDICTION FOR COMPLAINTS  ·  P000255DS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E5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ON GROUND TRUTH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Sometimes the model was right and the officer label wasn't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spot-checking with the industry supervisor confirmed historical officer-assigned tags are not a clean ground truth — meaning F1 against those labels can understate the model's true correctness.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assets/icons/users_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688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468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— PREFERRED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63040" y="27614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 validates a prediction sample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333756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 officer reviews a sample of predictions, making SME-verified correctness the primary accuracy proxy — not F1 against noisy historical labels.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26480" y="219456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assets/icons/shield_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46888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2468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D9A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— NO SME AVAILABLE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040880" y="27614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guardian pipeline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400800" y="333756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high-confidence prediction that doesn't closely match an existing scenario for that tag is flagged and routed to scenario-bank expansion rather than accepted as confirmed — keeping every confident prediction grounded in a verified exemplar.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8640" y="51663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i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factor:  </a:t>
            </a:r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evaluation variance means two test sets of identical size but different tag co-occurrence will score the same unchanged model differently — a structural property of sparse, high-cardinality label spaces, not model degradation.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PREDICTION FOR COMPLAINTS  ·  P000255DS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system doesn't do yet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plainly, because a system that's honest about its limits is more deployable than one that overclaims.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456432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assets/icons/warning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2140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210312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full live deployment yet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2633472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end-to-end and validated, but has not been wired into TIO's live case-management workflow.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169664" y="1920240"/>
            <a:ext cx="3456432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assets/icons/warning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2121408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64024" y="210312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SME validation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370832" y="2633472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banks have been spot-checked with the industry supervisor, not exhaustively reviewed across all 87–91 tags.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790688" y="1920240"/>
            <a:ext cx="3456432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assets/icons/warning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856" y="2121408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85048" y="210312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metrics vs. noisy labels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7991856" y="2633472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phases are still measured primarily against historical officer tags, which are themselves imperfect ground truth.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48640" y="3639312"/>
            <a:ext cx="3456432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assets/icons/warning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840480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3822192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split verification ongoing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749808" y="4352544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figures are best current estimates pending confirmation the test split matches Phase 1's construction.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169664" y="3639312"/>
            <a:ext cx="3456432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4" descr="assets/icons/warning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3840480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764024" y="3822192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29–32 of 87–91 tags production-ready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370832" y="4352544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 tail of rare tags still needs more verified cases before reaching the F1 ≥ 0.60 bar.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7790688" y="3639312"/>
            <a:ext cx="3456432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26" name="Image 5" descr="assets/icons/warning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1856" y="3840480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385048" y="3822192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CPU-only production constraint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7991856" y="4352544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shows the strongest per-epoch results but needs GPU + more data to be production-viable.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PREDICTION FOR COMPLAINTS  ·  P000255DS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concrete steps to the 80% target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56432" cy="3200400"/>
          </a:xfrm>
          <a:prstGeom prst="roundRect">
            <a:avLst>
              <a:gd name="adj" fmla="val 2286"/>
            </a:avLst>
          </a:prstGeom>
          <a:solidFill>
            <a:srgbClr val="12303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41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pic>
        <p:nvPicPr>
          <p:cNvPr id="6" name="Image 0" descr="assets/icons/users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9272" y="194767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6032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 Scenario Validation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77240" y="3246120"/>
            <a:ext cx="2999232" cy="0"/>
          </a:xfrm>
          <a:prstGeom prst="line">
            <a:avLst/>
          </a:prstGeom>
          <a:noFill/>
          <a:ln w="12700">
            <a:solidFill>
              <a:srgbClr val="23414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3383280"/>
            <a:ext cx="29992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officers validate and refine the per-tag scenario banks, especially for tags with complex or context-dependent definitions — directly improving synthetic data quality across all 87–91 tags.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169664" y="1691640"/>
            <a:ext cx="3456432" cy="3200400"/>
          </a:xfrm>
          <a:prstGeom prst="roundRect">
            <a:avLst>
              <a:gd name="adj" fmla="val 2286"/>
            </a:avLst>
          </a:prstGeom>
          <a:solidFill>
            <a:srgbClr val="12303F"/>
          </a:solidFill>
          <a:ln/>
        </p:spPr>
      </p:sp>
      <p:sp>
        <p:nvSpPr>
          <p:cNvPr id="11" name="Text 8"/>
          <p:cNvSpPr/>
          <p:nvPr/>
        </p:nvSpPr>
        <p:spPr>
          <a:xfrm>
            <a:off x="4398264" y="1874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41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pic>
        <p:nvPicPr>
          <p:cNvPr id="12" name="Image 1" descr="assets/icons/recycl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296" y="194767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98264" y="256032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Re-run LLM Pipeline &amp; Retrain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4398264" y="3246120"/>
            <a:ext cx="2999232" cy="0"/>
          </a:xfrm>
          <a:prstGeom prst="line">
            <a:avLst/>
          </a:prstGeom>
          <a:noFill/>
          <a:ln w="12700">
            <a:solidFill>
              <a:srgbClr val="23414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398264" y="3383280"/>
            <a:ext cx="29992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SME-validated, regenerate the synthetic pool with stronger boundary examples and retrain — expected to lift per-tag F1 most for tags currently below the 0.60 threshold.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790688" y="1691640"/>
            <a:ext cx="3456432" cy="3200400"/>
          </a:xfrm>
          <a:prstGeom prst="roundRect">
            <a:avLst>
              <a:gd name="adj" fmla="val 2286"/>
            </a:avLst>
          </a:prstGeom>
          <a:solidFill>
            <a:srgbClr val="12303F"/>
          </a:solidFill>
          <a:ln/>
        </p:spPr>
      </p:sp>
      <p:sp>
        <p:nvSpPr>
          <p:cNvPr id="17" name="Text 13"/>
          <p:cNvSpPr/>
          <p:nvPr/>
        </p:nvSpPr>
        <p:spPr>
          <a:xfrm>
            <a:off x="8019288" y="1874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41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pic>
        <p:nvPicPr>
          <p:cNvPr id="18" name="Image 2" descr="assets/icons/rocket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947672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19288" y="256032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DistilBERT at Scale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8019288" y="3246120"/>
            <a:ext cx="2999232" cy="0"/>
          </a:xfrm>
          <a:prstGeom prst="line">
            <a:avLst/>
          </a:prstGeom>
          <a:noFill/>
          <a:ln w="12700">
            <a:solidFill>
              <a:srgbClr val="23414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019288" y="3383280"/>
            <a:ext cx="29992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10,000+ quality cases per tag and GPU access, DistilBERT — which already beat every LightGBM run at Epoch 1 — becomes the most promising path to 80% accuracy across all tags.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516636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0E7C7B"/>
          </a:solidFill>
          <a:ln/>
        </p:spPr>
      </p:sp>
      <p:sp>
        <p:nvSpPr>
          <p:cNvPr id="23" name="Text 18"/>
          <p:cNvSpPr/>
          <p:nvPr/>
        </p:nvSpPr>
        <p:spPr>
          <a:xfrm>
            <a:off x="868680" y="51663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B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accuracy across all tags  </a:t>
            </a:r>
            <a:pPr indent="0" marL="0">
              <a:buNone/>
            </a:pPr>
            <a:r>
              <a:rPr lang="en-US" sz="1250" dirty="0">
                <a:solidFill>
                  <a:srgbClr val="E6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with ~10,000–15,000 quality training cases and GPU compute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3E5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PREDICTION FOR COMPLAINTS  ·  P000255DS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E5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0E7C7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200400"/>
            <a:ext cx="5486400" cy="5486400"/>
          </a:xfrm>
          <a:prstGeom prst="ellipse">
            <a:avLst/>
          </a:prstGeom>
          <a:solidFill>
            <a:srgbClr val="E8634C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THESIS, RESTATED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strategy beat architecture in every one of nine experiments.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8961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tag mapping, leakage-guarded sampling, and LLM-assisted boundary disambiguation outperformed every upgrade in model class — the practical takeaway being that investment in data curation and label verification outperforms investment in architectural complexity, in this regime.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3611880"/>
            <a:ext cx="10058400" cy="0"/>
          </a:xfrm>
          <a:prstGeom prst="line">
            <a:avLst/>
          </a:prstGeom>
          <a:noFill/>
          <a:ln w="12700">
            <a:solidFill>
              <a:srgbClr val="2341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9319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12303F"/>
          </a:solidFill>
          <a:ln/>
        </p:spPr>
      </p:sp>
      <p:pic>
        <p:nvPicPr>
          <p:cNvPr id="9" name="Image 0" descr="assets/icons/github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41605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41330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portfolio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4617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github.com/Kriti-Data-Business/prediction-model-multilable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343400" y="39319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12303F"/>
          </a:solidFill>
          <a:ln/>
        </p:spPr>
      </p:sp>
      <p:pic>
        <p:nvPicPr>
          <p:cNvPr id="13" name="Image 1" descr="assets/icons/external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1605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74920" y="41330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demo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0" y="4617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alongside this deck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7955280" y="39319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12303F"/>
          </a:solidFill>
          <a:ln/>
        </p:spPr>
      </p:sp>
      <p:pic>
        <p:nvPicPr>
          <p:cNvPr id="17" name="Image 2" descr="assets/icons/linkedin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41605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0" y="41330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on LinkedIn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183880" y="4617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full project walkthrough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73152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 Yadav</a:t>
            </a:r>
            <a:pPr indent="0" marL="0">
              <a:buNone/>
            </a:pPr>
            <a:r>
              <a:rPr lang="en-US" sz="12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Master of Data Science, RMIT University   ·   P000255DS   ·   June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Keyword Prediction for Complaints</dc:title>
  <dc:subject>PptxGenJS Presentation</dc:subject>
  <dc:creator>Kriti Yadav</dc:creator>
  <cp:lastModifiedBy>Kriti Yadav</cp:lastModifiedBy>
  <cp:revision>1</cp:revision>
  <dcterms:created xsi:type="dcterms:W3CDTF">2026-06-17T11:51:19Z</dcterms:created>
  <dcterms:modified xsi:type="dcterms:W3CDTF">2026-06-17T11:51:19Z</dcterms:modified>
</cp:coreProperties>
</file>